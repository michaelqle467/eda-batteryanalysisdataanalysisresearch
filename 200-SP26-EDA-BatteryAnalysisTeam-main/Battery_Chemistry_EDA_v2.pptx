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tfbZOgNYoPR8nC42F2evmOoV7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3"/>
    <p:restoredTop sz="63806"/>
  </p:normalViewPr>
  <p:slideViewPr>
    <p:cSldViewPr snapToGrid="0">
      <p:cViewPr varScale="1">
        <p:scale>
          <a:sx n="133" d="100"/>
          <a:sy n="133" d="100"/>
        </p:scale>
        <p:origin x="2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Good Afternoon everyone,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Our Project is Titled: Battery Failure Boundaries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Our Team members are: Aaron Jarrett, Michael Le, Hussain Zaidi and myself Phillip Medina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Instead of average performance, we focus on the conditions that define battery failure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We analyze three major chemistries- NMC, LFP, and solid-state- to identify the conditions that define their safety limits.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By analyzing these failure boundaries, we aim to better understand when batteries move from normal operation into degradation or failure, which is critical for improving reliability in EVs and energy systems.</a:t>
            </a:r>
            <a:endParaRPr lang="en-US" b="0" dirty="0"/>
          </a:p>
          <a:p>
            <a:pPr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To understand battery failure boundaries, we break the problem into four key questions, each capturing a different dimension of failure: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r>
              <a:rPr lang="en-US" b="1" dirty="0"/>
              <a:t>Q1: Capacity Degradation</a:t>
            </a:r>
          </a:p>
          <a:p>
            <a:r>
              <a:rPr lang="en-US" dirty="0"/>
              <a:t>We look at how quickly each battery loses capacity over time. This helps us identify which chemistry lasts longer and when it reaches end-of-life, typically around 80% capacity.</a:t>
            </a:r>
          </a:p>
          <a:p>
            <a:endParaRPr lang="en-US" dirty="0"/>
          </a:p>
          <a:p>
            <a:r>
              <a:rPr lang="en-US" b="1" dirty="0"/>
              <a:t>Q2: Resistance Growth</a:t>
            </a:r>
          </a:p>
          <a:p>
            <a:r>
              <a:rPr lang="en-US" dirty="0"/>
              <a:t>We analyze internal resistance growth. As resistance increases, efficiency drops and heat generation rises, </a:t>
            </a:r>
          </a:p>
          <a:p>
            <a:r>
              <a:rPr lang="en-US" dirty="0"/>
              <a:t>making this a key indicator of aging and performance decline.</a:t>
            </a:r>
          </a:p>
          <a:p>
            <a:endParaRPr lang="en-US" dirty="0"/>
          </a:p>
          <a:p>
            <a:r>
              <a:rPr lang="en-US" b="1" dirty="0"/>
              <a:t>Q3: Safety &amp; Reliability</a:t>
            </a:r>
          </a:p>
          <a:p>
            <a:r>
              <a:rPr lang="en-US" dirty="0"/>
              <a:t>We focus on safety and reliability. This includes thermal runaway risk, irreversible damage, and B10 life,</a:t>
            </a:r>
          </a:p>
          <a:p>
            <a:r>
              <a:rPr lang="en-US" dirty="0"/>
              <a:t>which tells us when 10% of batteries are expected to fail in real-world conditions.</a:t>
            </a:r>
          </a:p>
          <a:p>
            <a:endParaRPr lang="en-US" dirty="0"/>
          </a:p>
          <a:p>
            <a:r>
              <a:rPr lang="en-US" b="1" dirty="0"/>
              <a:t>Q4: Thermal Stress Sensitivity</a:t>
            </a:r>
          </a:p>
          <a:p>
            <a:r>
              <a:rPr lang="en-US" dirty="0"/>
              <a:t>Finally, we examine how temperature impacts performance. </a:t>
            </a:r>
          </a:p>
          <a:p>
            <a:r>
              <a:rPr lang="en-US" dirty="0"/>
              <a:t>Batteries behave very differently under cool, optimal, and high-temperature conditions, which directly affects degradation and failure risk.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Summary:</a:t>
            </a:r>
          </a:p>
          <a:p>
            <a:r>
              <a:rPr lang="en-US" dirty="0"/>
              <a:t>Together, these four questions help us map where each battery chemistry operates safely, and where it begins to fail.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.</a:t>
            </a:r>
            <a:endParaRPr sz="1200" dirty="0"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04D8AC3F-0D3C-D12E-A1B6-DAA0819F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>
            <a:extLst>
              <a:ext uri="{FF2B5EF4-FFF2-40B4-BE49-F238E27FC236}">
                <a16:creationId xmlns:a16="http://schemas.microsoft.com/office/drawing/2014/main" id="{00848CA9-1033-5CA7-683B-C5143220D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p9:notes">
            <a:extLst>
              <a:ext uri="{FF2B5EF4-FFF2-40B4-BE49-F238E27FC236}">
                <a16:creationId xmlns:a16="http://schemas.microsoft.com/office/drawing/2014/main" id="{B2BCEA61-175D-DB3D-BA3C-2EEA7464C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6923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Across all four research questions, we see a consistent pattern. </a:t>
            </a:r>
          </a:p>
          <a:p>
            <a:endParaRPr lang="en-US" dirty="0"/>
          </a:p>
          <a:p>
            <a:r>
              <a:rPr lang="en-US" dirty="0"/>
              <a:t>Solid-state clearly outperforms the other chemistries across safety, degradation, and reliability. </a:t>
            </a:r>
          </a:p>
          <a:p>
            <a:r>
              <a:rPr lang="en-US" dirty="0"/>
              <a:t>LFP shows moderate, more stable performance, </a:t>
            </a:r>
          </a:p>
          <a:p>
            <a:r>
              <a:rPr lang="en-US" dirty="0"/>
              <a:t>while NMC exhibits greater variability and higher risk, particularly under thermal stress.</a:t>
            </a:r>
          </a:p>
          <a:p>
            <a:r>
              <a:rPr lang="en-US" dirty="0"/>
              <a:t>It’s important to note that this is exploratory analysis, so these results highlight relative differences based on this dataset, not real-world cases.</a:t>
            </a:r>
            <a:endParaRPr dirty="0"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chemistry_scorecard_d3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960119"/>
            <a:ext cx="320041" cy="32004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417319" y="960119"/>
            <a:ext cx="320041" cy="32004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20239" y="960119"/>
            <a:ext cx="320041" cy="32004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457200" y="855381"/>
            <a:ext cx="8046719" cy="148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 Failure</a:t>
            </a:r>
            <a:endParaRPr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Boundaries</a:t>
            </a:r>
            <a:endParaRPr dirty="0"/>
          </a:p>
        </p:txBody>
      </p:sp>
      <p:sp>
        <p:nvSpPr>
          <p:cNvPr id="21" name="Google Shape;21;p1"/>
          <p:cNvSpPr txBox="1"/>
          <p:nvPr/>
        </p:nvSpPr>
        <p:spPr>
          <a:xfrm>
            <a:off x="457200" y="2534220"/>
            <a:ext cx="6858000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 Comparative EDA of Li-ion NMC, LFP, and Solid-State Cell Chemistries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2926079"/>
            <a:ext cx="5029200" cy="36577"/>
          </a:xfrm>
          <a:prstGeom prst="rect">
            <a:avLst/>
          </a:prstGeom>
          <a:solidFill>
            <a:srgbClr val="8FA6B8"/>
          </a:solidFill>
          <a:ln w="12700" cap="flat" cmpd="sng">
            <a:solidFill>
              <a:srgbClr val="8FA6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57200" y="3156126"/>
            <a:ext cx="7315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Team Members: </a:t>
            </a:r>
            <a:r>
              <a:rPr lang="en-US" sz="1100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 Jarrett, Aaron | Le, Michael | Medina, Phillip | Zaidi, Hussain </a:t>
            </a: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 |  UC Berkeley MIDS</a:t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457200" y="3521886"/>
            <a:ext cx="7772400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Dataset:  </a:t>
            </a: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battery_failure_surfaces.csv  |  60,600 observations × 9 variables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4343400"/>
            <a:ext cx="228600" cy="2286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777240" y="4383839"/>
            <a:ext cx="2011679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926079" y="4343400"/>
            <a:ext cx="228601" cy="22860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3246120" y="4383839"/>
            <a:ext cx="2011680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846320" y="4343400"/>
            <a:ext cx="228601" cy="228600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5166359" y="4383839"/>
            <a:ext cx="2011680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11800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365759" y="178668"/>
            <a:ext cx="8229601" cy="3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74320" y="96011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960119"/>
            <a:ext cx="73153" cy="160020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38912" y="1124711"/>
            <a:ext cx="411481" cy="41148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38912" y="1191953"/>
            <a:ext cx="4114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800" dirty="0"/>
          </a:p>
        </p:txBody>
      </p:sp>
      <p:sp>
        <p:nvSpPr>
          <p:cNvPr id="42" name="Google Shape;42;p2"/>
          <p:cNvSpPr txBox="1"/>
          <p:nvPr/>
        </p:nvSpPr>
        <p:spPr>
          <a:xfrm>
            <a:off x="960119" y="1196779"/>
            <a:ext cx="3200401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Capacity Degradation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438911" y="1745879"/>
            <a:ext cx="3749042" cy="53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Which cell chemistry experiences the lowest capacity fade rate cycle-over-cycle, and when does each chemistry cross the 80% End-of-Life (EOL) threshold?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754879" y="96011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54879" y="960119"/>
            <a:ext cx="73153" cy="1600201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919471" y="1124711"/>
            <a:ext cx="411481" cy="41148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919471" y="1191953"/>
            <a:ext cx="4114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800"/>
          </a:p>
        </p:txBody>
      </p:sp>
      <p:sp>
        <p:nvSpPr>
          <p:cNvPr id="48" name="Google Shape;48;p2"/>
          <p:cNvSpPr txBox="1"/>
          <p:nvPr/>
        </p:nvSpPr>
        <p:spPr>
          <a:xfrm>
            <a:off x="5440679" y="1196779"/>
            <a:ext cx="3200401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Resistance Growth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4919471" y="1845212"/>
            <a:ext cx="3749041" cy="33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Which chemistry shows the most favorable (slowest) internal resistance growth over its operational lifespan?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283463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2834639"/>
            <a:ext cx="73153" cy="1600201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38912" y="2999232"/>
            <a:ext cx="411481" cy="41148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38912" y="3066473"/>
            <a:ext cx="4114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800"/>
          </a:p>
        </p:txBody>
      </p:sp>
      <p:sp>
        <p:nvSpPr>
          <p:cNvPr id="54" name="Google Shape;54;p2"/>
          <p:cNvSpPr txBox="1"/>
          <p:nvPr/>
        </p:nvSpPr>
        <p:spPr>
          <a:xfrm>
            <a:off x="960119" y="3071298"/>
            <a:ext cx="3200401" cy="16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Safety &amp; Reliability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438911" y="3620399"/>
            <a:ext cx="3749042" cy="53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How do the three chemistries compare across thermal runaway risk, irreversible damage index, and B10 fleet reliability milestones?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754879" y="283463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79" y="2834639"/>
            <a:ext cx="73153" cy="160020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19471" y="2999232"/>
            <a:ext cx="411481" cy="411481"/>
          </a:xfrm>
          <a:prstGeom prst="ellipse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919471" y="3066473"/>
            <a:ext cx="4114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800"/>
          </a:p>
        </p:txBody>
      </p:sp>
      <p:sp>
        <p:nvSpPr>
          <p:cNvPr id="60" name="Google Shape;60;p2"/>
          <p:cNvSpPr txBox="1"/>
          <p:nvPr/>
        </p:nvSpPr>
        <p:spPr>
          <a:xfrm>
            <a:off x="5440679" y="3071298"/>
            <a:ext cx="3200401" cy="16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Thermal Stress Sensitivity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4919471" y="3719732"/>
            <a:ext cx="3749041" cy="33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Does operational temperature stress (Cool / Optimal / Warm / Hot zones) differentially degrade retention across chemistries?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65759" y="178668"/>
            <a:ext cx="8229601" cy="3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Cleaning Overview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74320" y="914400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274320" y="966603"/>
            <a:ext cx="2743201" cy="3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60,600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274320" y="1441626"/>
            <a:ext cx="2743201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Total Observations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74320" y="1920239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274320" y="1972443"/>
            <a:ext cx="2743201" cy="39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274320" y="2447466"/>
            <a:ext cx="2743201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74320" y="2926079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274320" y="2978283"/>
            <a:ext cx="2743201" cy="39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274320" y="3453305"/>
            <a:ext cx="2743201" cy="1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Cell Chemistries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4320" y="3931920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274320" y="3984124"/>
            <a:ext cx="2743201" cy="3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274320" y="4459146"/>
            <a:ext cx="2743201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/>
          </a:p>
        </p:txBody>
      </p:sp>
      <p:pic>
        <p:nvPicPr>
          <p:cNvPr id="81" name="Google Shape;81;p3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6120" y="804672"/>
            <a:ext cx="5669280" cy="420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Q1: Capacity Degradation Over Cycles</a:t>
            </a:r>
            <a:endParaRPr/>
          </a:p>
        </p:txBody>
      </p:sp>
      <p:pic>
        <p:nvPicPr>
          <p:cNvPr id="89" name="Google Shape;89;p4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5669281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" y="3657600"/>
            <a:ext cx="5669281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5989320" y="804671"/>
            <a:ext cx="2971801" cy="4224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89320" y="804672"/>
            <a:ext cx="2971801" cy="54865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126479" y="1011744"/>
            <a:ext cx="27432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126479" y="1389888"/>
            <a:ext cx="54865" cy="777241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309359" y="1439471"/>
            <a:ext cx="2514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6309359" y="1700338"/>
            <a:ext cx="2514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Never crosses the 80% EOL threshold across the full 500-cycle window. Retains ~88% at cycle 500.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126479" y="2395727"/>
            <a:ext cx="54865" cy="777242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309359" y="2445311"/>
            <a:ext cx="2514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6309359" y="2802435"/>
            <a:ext cx="2514601" cy="3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Dips below 80% EOL around cycles 200-300 before recovering. Volatile mid-cycle behavior.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126479" y="3401567"/>
            <a:ext cx="54865" cy="77724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309359" y="3451151"/>
            <a:ext cx="2514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6309359" y="3712018"/>
            <a:ext cx="2514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Also dips below 80% EOL in the mid-cycle range. Highest fade rate spikes visible in cycles 200-350.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6126479" y="4521507"/>
            <a:ext cx="2697482" cy="3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Solid-State is the only chemistry that never crossed the EOL threshold across the full test window.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Q2: Internal Resistance Growth Over Cycles</a:t>
            </a:r>
            <a:endParaRPr/>
          </a:p>
        </p:txBody>
      </p:sp>
      <p:pic>
        <p:nvPicPr>
          <p:cNvPr id="111" name="Google Shape;111;p5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6217922" cy="411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6537959" y="804672"/>
            <a:ext cx="2423161" cy="41148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629400" y="1050475"/>
            <a:ext cx="2194561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6629400" y="1415493"/>
            <a:ext cx="2194561" cy="73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Rising internal resistance means more heat generated per cycle, accelerating degradation and reducing usable power output.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629400" y="2331720"/>
            <a:ext cx="54864" cy="640081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766559" y="2377484"/>
            <a:ext cx="20574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766559" y="2557583"/>
            <a:ext cx="2057401" cy="5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Nearly flat across all 500 cycles. Resistance growth rate stays below 5% throughout.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629400" y="3154679"/>
            <a:ext cx="54864" cy="640081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6766559" y="3200444"/>
            <a:ext cx="20574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6766559" y="3473373"/>
            <a:ext cx="2057401" cy="32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Moderate growth, rising sharply around cycle 200-300 before declining back.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629400" y="3977640"/>
            <a:ext cx="54864" cy="64008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6766559" y="4023404"/>
            <a:ext cx="20574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6766559" y="4203503"/>
            <a:ext cx="2057401" cy="5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Largest growth — peaks near 20% around cycle 300 with wide variance. Highest thermal stress risk.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365760" y="182216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Q3: Safety Profile &amp; Fleet Reliability (B10 Life)</a:t>
            </a:r>
            <a:endParaRPr dirty="0"/>
          </a:p>
        </p:txBody>
      </p:sp>
      <p:pic>
        <p:nvPicPr>
          <p:cNvPr id="131" name="Google Shape;131;p6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5212081" cy="21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" y="2999232"/>
            <a:ext cx="5212081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5577840" y="804671"/>
            <a:ext cx="3383281" cy="420624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715000" y="1039176"/>
            <a:ext cx="310896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Safety &amp; Reliability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715000" y="1417319"/>
            <a:ext cx="3063240" cy="137160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5806440" y="1567487"/>
            <a:ext cx="283464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B10 Life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806440" y="1847088"/>
            <a:ext cx="182881" cy="18288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6053328" y="1869992"/>
            <a:ext cx="13716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Solid-State: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7498080" y="1869992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499 cycles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806440" y="2139695"/>
            <a:ext cx="182881" cy="18288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053328" y="2162600"/>
            <a:ext cx="13716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LFP: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7498080" y="2162600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125 cycles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806440" y="2432304"/>
            <a:ext cx="182881" cy="18288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053328" y="2455208"/>
            <a:ext cx="13716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Li-ion NMC: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7498080" y="2455208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125 cycles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5715000" y="3039671"/>
            <a:ext cx="310896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Thermal Risk Profile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715000" y="3374135"/>
            <a:ext cx="54864" cy="438913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870447" y="3378752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5870447" y="3634784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Nearly zero thermal runaway risk across all cycles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715000" y="3941064"/>
            <a:ext cx="54864" cy="438913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870447" y="3945680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5870447" y="4201712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Concentrated IQR at low risk; some extreme outliers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715000" y="4507991"/>
            <a:ext cx="54864" cy="438913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5870447" y="4512608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5870447" y="4768640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Widest IQR; highest median risk of the three chemistries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Q4: Thermal Stress Sensitivity &amp; Electrochemical Drivers</a:t>
            </a:r>
            <a:endParaRPr/>
          </a:p>
        </p:txBody>
      </p:sp>
      <p:pic>
        <p:nvPicPr>
          <p:cNvPr id="163" name="Google Shape;163;p7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5212081" cy="27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" y="3657600"/>
            <a:ext cx="3200401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 descr="Image 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0440" y="3657600"/>
            <a:ext cx="1874521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5577840" y="804671"/>
            <a:ext cx="3383281" cy="420624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715000" y="1039176"/>
            <a:ext cx="310896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Thermal Findings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5715000" y="1472183"/>
            <a:ext cx="201169" cy="201169"/>
          </a:xfrm>
          <a:prstGeom prst="ellipse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6035040" y="1512886"/>
            <a:ext cx="27432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LFP and NMC have no data in the Warm (35-45°C) or Hot (&gt;45°C) zones, only Solid-State operates at those temperatures in this dataset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715000" y="2276855"/>
            <a:ext cx="201169" cy="201169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035040" y="2317558"/>
            <a:ext cx="27432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Solid-State retention declines progressively across temperature zones: ~96% cool, ~94% optimal, ~87% warm, still above EOL throughout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715000" y="3081527"/>
            <a:ext cx="201169" cy="201169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6035040" y="3106281"/>
            <a:ext cx="285040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Correlation matrix: internal resistance is the strongest negative driver of capacity retention (r = -0.85). Temperature has a moderate negative effect (r = -0.24)</a:t>
            </a:r>
            <a:endParaRPr dirty="0"/>
          </a:p>
        </p:txBody>
      </p:sp>
      <p:sp>
        <p:nvSpPr>
          <p:cNvPr id="174" name="Google Shape;174;p7"/>
          <p:cNvSpPr/>
          <p:nvPr/>
        </p:nvSpPr>
        <p:spPr>
          <a:xfrm>
            <a:off x="5715000" y="3886200"/>
            <a:ext cx="201169" cy="201169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6035040" y="3926902"/>
            <a:ext cx="27432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Scatter plot confirms Solid-State holds the shallowest slope across temperature, while NMC and LFP decline more steeply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65759" y="178668"/>
            <a:ext cx="8229601" cy="3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 &amp; Limitations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28599" y="96011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28600" y="960119"/>
            <a:ext cx="64008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411480" y="110114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Assumption 1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411480" y="143973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Data treated as representative of laboratory cycling conditions. Real-world duty cycles include variable charge/discharge patterns not captured here.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28599" y="2286000"/>
            <a:ext cx="3977642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28600" y="2286000"/>
            <a:ext cx="64008" cy="118872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411480" y="242702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Assumption 2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411480" y="276561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pct_change</a:t>
            </a:r>
            <a:r>
              <a:rPr lang="en-US" sz="10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() for fade and resistance rates assumes uniform cycle spacing. Non-uniform intervals would require interpolation prior to rate calculation.</a:t>
            </a:r>
            <a:endParaRPr dirty="0"/>
          </a:p>
        </p:txBody>
      </p:sp>
      <p:sp>
        <p:nvSpPr>
          <p:cNvPr id="191" name="Google Shape;191;p8"/>
          <p:cNvSpPr/>
          <p:nvPr/>
        </p:nvSpPr>
        <p:spPr>
          <a:xfrm>
            <a:off x="228599" y="361187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28600" y="3611879"/>
            <a:ext cx="64008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411480" y="375290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Assumption 3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411480" y="4075545"/>
            <a:ext cx="37443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20000"/>
              </a:lnSpc>
              <a:buClr>
                <a:srgbClr val="444444"/>
              </a:buClr>
              <a:buSzPts val="1000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The dataset is representative of the theoretical performance of each battery chemistry under comparable operating conditions, including cycle life, temperature range, and charge/discharge rates.</a:t>
            </a:r>
            <a:endParaRPr sz="1000" b="0" i="0" u="none" strike="noStrike" cap="none" dirty="0">
              <a:solidFill>
                <a:srgbClr val="44444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754879" y="96011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754879" y="960119"/>
            <a:ext cx="64009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4937759" y="110114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 1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4937759" y="1535991"/>
            <a:ext cx="3657601" cy="3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LFP and NMC have no observations above 35°C in the dataset. Thermal zone comparisons for those chemistries are incomplete.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754879" y="2286000"/>
            <a:ext cx="3977642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754879" y="2286000"/>
            <a:ext cx="64009" cy="118872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4937759" y="242702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 2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4937759" y="276561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B10 analysis shows LFP and NMC reach 10% fleet failure by cycle 125, well within the test window. Longer observation past 500 cycles would clarify long-run Solid-State behavior.</a:t>
            </a:r>
            <a:endParaRPr dirty="0"/>
          </a:p>
        </p:txBody>
      </p:sp>
      <p:sp>
        <p:nvSpPr>
          <p:cNvPr id="203" name="Google Shape;203;p8"/>
          <p:cNvSpPr/>
          <p:nvPr/>
        </p:nvSpPr>
        <p:spPr>
          <a:xfrm>
            <a:off x="4754879" y="361187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54879" y="3611879"/>
            <a:ext cx="64009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4937759" y="375290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 3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4937759" y="409149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This is descriptive EDA only. No statistical testing was applied. Observed differences between chemistries should not be interpreted as statistically significant.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7D9DF281-A846-F536-F95C-7EE03A96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>
            <a:extLst>
              <a:ext uri="{FF2B5EF4-FFF2-40B4-BE49-F238E27FC236}">
                <a16:creationId xmlns:a16="http://schemas.microsoft.com/office/drawing/2014/main" id="{4B864D40-DF0C-E87D-4501-53225FF3CFC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>
            <a:extLst>
              <a:ext uri="{FF2B5EF4-FFF2-40B4-BE49-F238E27FC236}">
                <a16:creationId xmlns:a16="http://schemas.microsoft.com/office/drawing/2014/main" id="{E5EB7703-52D0-CE37-90FF-B53157F7F4CC}"/>
              </a:ext>
            </a:extLst>
          </p:cNvPr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>
            <a:extLst>
              <a:ext uri="{FF2B5EF4-FFF2-40B4-BE49-F238E27FC236}">
                <a16:creationId xmlns:a16="http://schemas.microsoft.com/office/drawing/2014/main" id="{C2518663-D49A-8988-5F59-B1E607525167}"/>
              </a:ext>
            </a:extLst>
          </p:cNvPr>
          <p:cNvSpPr txBox="1"/>
          <p:nvPr/>
        </p:nvSpPr>
        <p:spPr>
          <a:xfrm>
            <a:off x="457199" y="294947"/>
            <a:ext cx="83941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D3 Visualization 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F3E0FB48-8517-32DB-4A7F-EBF498621BDF}"/>
              </a:ext>
            </a:extLst>
          </p:cNvPr>
          <p:cNvSpPr txBox="1"/>
          <p:nvPr/>
        </p:nvSpPr>
        <p:spPr>
          <a:xfrm>
            <a:off x="2971170" y="1075422"/>
            <a:ext cx="4579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FFFF00"/>
                </a:solidFill>
                <a:effectLst/>
                <a:latin typeface="Playfair Display" panose="00000500000000000000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Chemistry Performance </a:t>
            </a:r>
            <a:r>
              <a:rPr lang="en-US" b="0" i="1" dirty="0">
                <a:solidFill>
                  <a:srgbClr val="FFFF00"/>
                </a:solidFill>
                <a:effectLst/>
                <a:latin typeface="Playfair Display" panose="00000500000000000000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Scorecard</a:t>
            </a:r>
            <a:endParaRPr lang="en-US" b="1" i="0" dirty="0">
              <a:solidFill>
                <a:srgbClr val="FFFF00"/>
              </a:solidFill>
              <a:effectLst/>
              <a:latin typeface="Playfair Display" panose="00000500000000000000" pitchFamily="2" charset="77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99B063-E010-4C38-E2E6-D6427967B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84947"/>
            <a:ext cx="7772400" cy="15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0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457200" y="326523"/>
            <a:ext cx="4572000" cy="3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457200" y="991039"/>
            <a:ext cx="8046719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Across all four research questions, a consistent hierarchy emerged: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1371600"/>
            <a:ext cx="73153" cy="914400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58368" y="1600200"/>
            <a:ext cx="411481" cy="41148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1188719" y="1523808"/>
            <a:ext cx="18288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1188720" y="1830281"/>
            <a:ext cx="7223760" cy="32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Best performer on every metric: never crosses EOL threshold, near-flat resistance growth, lowest thermal risk (near zero), and B10 life of 499 cycles vs. 125 for both competitors.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57200" y="2468879"/>
            <a:ext cx="8229600" cy="91440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2468879"/>
            <a:ext cx="73153" cy="914401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58368" y="2697479"/>
            <a:ext cx="411481" cy="41148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1188719" y="2621088"/>
            <a:ext cx="18288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1188720" y="2927561"/>
            <a:ext cx="7223760" cy="32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Middle performer: dips below EOL in mid-cycles before recovering, moderate resistance growth, and B10 failure at cycle 125. No data above 35°C limits thermal zone conclusions.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57200" y="3566159"/>
            <a:ext cx="8229600" cy="91440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3566159"/>
            <a:ext cx="73153" cy="91440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58368" y="3794759"/>
            <a:ext cx="411481" cy="41148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1188719" y="3718368"/>
            <a:ext cx="18288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1188720" y="4024841"/>
            <a:ext cx="7223760" cy="32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Comparable to LFP on most metrics but with higher resistance growth variance and higher thermal runaway risk. B10 failure also at cycle 125. Most volatile fade rate behavior.</a:t>
            </a:r>
            <a:endParaRPr dirty="0"/>
          </a:p>
        </p:txBody>
      </p:sp>
      <p:sp>
        <p:nvSpPr>
          <p:cNvPr id="230" name="Google Shape;230;p9"/>
          <p:cNvSpPr txBox="1"/>
          <p:nvPr/>
        </p:nvSpPr>
        <p:spPr>
          <a:xfrm>
            <a:off x="457200" y="4759496"/>
            <a:ext cx="8229600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This EDA describes patterns observed in the dataset. Results inform chemistry selection decisions, not population-level claims.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1189</Words>
  <Application>Microsoft Macintosh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Medina, Phillip</cp:lastModifiedBy>
  <cp:revision>9</cp:revision>
  <dcterms:modified xsi:type="dcterms:W3CDTF">2026-04-14T18:36:24Z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50c7b0-9e53-455f-9b3f-deab1aa8a41e_Enabled">
    <vt:lpwstr>true</vt:lpwstr>
  </property>
  <property fmtid="{D5CDD505-2E9C-101B-9397-08002B2CF9AE}" pid="3" name="MSIP_Label_bc50c7b0-9e53-455f-9b3f-deab1aa8a41e_SetDate">
    <vt:lpwstr>2026-04-07T05:38:08Z</vt:lpwstr>
  </property>
  <property fmtid="{D5CDD505-2E9C-101B-9397-08002B2CF9AE}" pid="4" name="MSIP_Label_bc50c7b0-9e53-455f-9b3f-deab1aa8a41e_Method">
    <vt:lpwstr>Standard</vt:lpwstr>
  </property>
  <property fmtid="{D5CDD505-2E9C-101B-9397-08002B2CF9AE}" pid="5" name="MSIP_Label_bc50c7b0-9e53-455f-9b3f-deab1aa8a41e_Name">
    <vt:lpwstr>defa4170-0d19-0005-0004-bc88714345d2</vt:lpwstr>
  </property>
  <property fmtid="{D5CDD505-2E9C-101B-9397-08002B2CF9AE}" pid="6" name="MSIP_Label_bc50c7b0-9e53-455f-9b3f-deab1aa8a41e_SiteId">
    <vt:lpwstr>7cc8e357-468d-472c-a6fc-c5600e789b55</vt:lpwstr>
  </property>
  <property fmtid="{D5CDD505-2E9C-101B-9397-08002B2CF9AE}" pid="7" name="MSIP_Label_bc50c7b0-9e53-455f-9b3f-deab1aa8a41e_ActionId">
    <vt:lpwstr>87fb67b2-a7c3-4f42-b6fa-7be97fc788a0</vt:lpwstr>
  </property>
  <property fmtid="{D5CDD505-2E9C-101B-9397-08002B2CF9AE}" pid="8" name="MSIP_Label_bc50c7b0-9e53-455f-9b3f-deab1aa8a41e_ContentBits">
    <vt:lpwstr>0</vt:lpwstr>
  </property>
  <property fmtid="{D5CDD505-2E9C-101B-9397-08002B2CF9AE}" pid="9" name="MSIP_Label_bc50c7b0-9e53-455f-9b3f-deab1aa8a41e_Tag">
    <vt:lpwstr>50, 3, 0, 1</vt:lpwstr>
  </property>
</Properties>
</file>